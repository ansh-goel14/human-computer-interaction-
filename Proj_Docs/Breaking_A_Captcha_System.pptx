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64" r:id="rId4"/>
    <p:sldId id="268" r:id="rId5"/>
    <p:sldId id="265" r:id="rId6"/>
    <p:sldId id="258" r:id="rId7"/>
    <p:sldId id="260" r:id="rId8"/>
    <p:sldId id="263" r:id="rId9"/>
    <p:sldId id="262" r:id="rId10"/>
    <p:sldId id="267" r:id="rId11"/>
    <p:sldId id="266" r:id="rId12"/>
  </p:sldIdLst>
  <p:sldSz cx="12192000" cy="6858000"/>
  <p:notesSz cx="6858000" cy="9144000"/>
  <p:embeddedFontLst>
    <p:embeddedFont>
      <p:font typeface="Century Gothic"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7znn4ZkjnXmwd7vT8O4kiMjjfJw=="/>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3" name="Google Shape;13;p9"/>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spcBef>
                <a:spcPts val="360"/>
              </a:spcBef>
              <a:spcAft>
                <a:spcPts val="0"/>
              </a:spcAft>
              <a:buSzPts val="1800"/>
              <a:buNone/>
              <a:defRPr>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400"/>
              <a:buNone/>
              <a:defRPr>
                <a:solidFill>
                  <a:schemeClr val="lt1"/>
                </a:solidFill>
              </a:defRPr>
            </a:lvl3pPr>
            <a:lvl4pPr lvl="3" algn="ctr">
              <a:spcBef>
                <a:spcPts val="600"/>
              </a:spcBef>
              <a:spcAft>
                <a:spcPts val="0"/>
              </a:spcAft>
              <a:buSzPts val="1200"/>
              <a:buNone/>
              <a:defRPr>
                <a:solidFill>
                  <a:schemeClr val="lt1"/>
                </a:solidFill>
              </a:defRPr>
            </a:lvl4pPr>
            <a:lvl5pPr lvl="4" algn="ctr">
              <a:spcBef>
                <a:spcPts val="600"/>
              </a:spcBef>
              <a:spcAft>
                <a:spcPts val="0"/>
              </a:spcAft>
              <a:buSzPts val="1200"/>
              <a:buNone/>
              <a:defRPr>
                <a:solidFill>
                  <a:schemeClr val="lt1"/>
                </a:solidFill>
              </a:defRPr>
            </a:lvl5pPr>
            <a:lvl6pPr lvl="5" algn="ctr">
              <a:spcBef>
                <a:spcPts val="600"/>
              </a:spcBef>
              <a:spcAft>
                <a:spcPts val="0"/>
              </a:spcAft>
              <a:buSzPts val="1200"/>
              <a:buNone/>
              <a:defRPr>
                <a:solidFill>
                  <a:schemeClr val="lt1"/>
                </a:solidFill>
              </a:defRPr>
            </a:lvl6pPr>
            <a:lvl7pPr lvl="6" algn="ctr">
              <a:spcBef>
                <a:spcPts val="600"/>
              </a:spcBef>
              <a:spcAft>
                <a:spcPts val="0"/>
              </a:spcAft>
              <a:buSzPts val="1200"/>
              <a:buNone/>
              <a:defRPr>
                <a:solidFill>
                  <a:schemeClr val="lt1"/>
                </a:solidFill>
              </a:defRPr>
            </a:lvl7pPr>
            <a:lvl8pPr lvl="7" algn="ctr">
              <a:spcBef>
                <a:spcPts val="600"/>
              </a:spcBef>
              <a:spcAft>
                <a:spcPts val="0"/>
              </a:spcAft>
              <a:buSzPts val="1200"/>
              <a:buNone/>
              <a:defRPr>
                <a:solidFill>
                  <a:schemeClr val="lt1"/>
                </a:solidFill>
              </a:defRPr>
            </a:lvl8pPr>
            <a:lvl9pPr lvl="8" algn="ctr">
              <a:spcBef>
                <a:spcPts val="600"/>
              </a:spcBef>
              <a:spcAft>
                <a:spcPts val="600"/>
              </a:spcAft>
              <a:buSzPts val="1200"/>
              <a:buNone/>
              <a:defRPr>
                <a:solidFill>
                  <a:schemeClr val="lt1"/>
                </a:solidFill>
              </a:defRPr>
            </a:lvl9pPr>
          </a:lstStyle>
          <a:p>
            <a:endParaRPr/>
          </a:p>
        </p:txBody>
      </p:sp>
      <p:sp>
        <p:nvSpPr>
          <p:cNvPr id="15" name="Google Shape;15;p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0" name="Google Shape;20;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22" name="Google Shape;22;p1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1"/>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7" name="Google Shape;27;p11"/>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spcBef>
                <a:spcPts val="0"/>
              </a:spcBef>
              <a:spcAft>
                <a:spcPts val="0"/>
              </a:spcAft>
              <a:buClr>
                <a:srgbClr val="FEFEFE"/>
              </a:buClr>
              <a:buSzPts val="4800"/>
              <a:buFont typeface="Century Gothic"/>
              <a:buNone/>
              <a:defRPr sz="48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29" name="Google Shape;29;p1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4" name="Google Shape;34;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6" name="Google Shape;36;p12"/>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7" name="Google Shape;37;p1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2" name="Google Shape;42;p1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3"/>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4" name="Google Shape;44;p13"/>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5" name="Google Shape;45;p13"/>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6" name="Google Shape;46;p13"/>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7" name="Google Shape;47;p1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14"/>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2" name="Google Shape;52;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5"/>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2" name="Google Shape;62;p16"/>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2000"/>
              <a:buFont typeface="Century Gothic"/>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64" name="Google Shape;64;p16"/>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80"/>
              </a:spcBef>
              <a:spcAft>
                <a:spcPts val="0"/>
              </a:spcAft>
              <a:buSzPts val="1400"/>
              <a:buNone/>
              <a:defRPr sz="14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65" name="Google Shape;65;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p:spPr>
      </p:sp>
      <p:sp>
        <p:nvSpPr>
          <p:cNvPr id="71" name="Google Shape;71;p17"/>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2" name="Google Shape;72;p17"/>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7"/>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78" name="Google Shape;78;p18"/>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9" name="Google Shape;79;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2"/>
        <p:cNvGrpSpPr/>
        <p:nvPr/>
      </p:nvGrpSpPr>
      <p:grpSpPr>
        <a:xfrm>
          <a:off x="0" y="0"/>
          <a:ext cx="0" cy="0"/>
          <a:chOff x="0" y="0"/>
          <a:chExt cx="0" cy="0"/>
        </a:xfrm>
      </p:grpSpPr>
      <p:sp>
        <p:nvSpPr>
          <p:cNvPr id="83" name="Google Shape;83;p19"/>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4" name="Google Shape;84;p19"/>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200"/>
              <a:buFont typeface="Century Gothic"/>
              <a:buNone/>
              <a:defRPr sz="42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86" name="Google Shape;86;p19"/>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87" name="Google Shape;87;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0"/>
        <p:cNvGrpSpPr/>
        <p:nvPr/>
      </p:nvGrpSpPr>
      <p:grpSpPr>
        <a:xfrm>
          <a:off x="0" y="0"/>
          <a:ext cx="0" cy="0"/>
          <a:chOff x="0" y="0"/>
          <a:chExt cx="0" cy="0"/>
        </a:xfrm>
      </p:grpSpPr>
      <p:sp>
        <p:nvSpPr>
          <p:cNvPr id="91" name="Google Shape;91;p20"/>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2" name="Google Shape;92;p20"/>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94" name="Google Shape;94;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7"/>
        <p:cNvGrpSpPr/>
        <p:nvPr/>
      </p:nvGrpSpPr>
      <p:grpSpPr>
        <a:xfrm>
          <a:off x="0" y="0"/>
          <a:ext cx="0" cy="0"/>
          <a:chOff x="0" y="0"/>
          <a:chExt cx="0" cy="0"/>
        </a:xfrm>
      </p:grpSpPr>
      <p:sp>
        <p:nvSpPr>
          <p:cNvPr id="98" name="Google Shape;98;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9" name="Google Shape;99;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1"/>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1" name="Google Shape;10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22"/>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6" name="Google Shape;106;p22"/>
          <p:cNvSpPr txBox="1">
            <a:spLocks noGrp="1"/>
          </p:cNvSpPr>
          <p:nvPr>
            <p:ph type="title"/>
          </p:nvPr>
        </p:nvSpPr>
        <p:spPr>
          <a:xfrm rot="5400000">
            <a:off x="6863537"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8" name="Google Shape;108;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7" name="Google Shape;7;p8"/>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8" name="Google Shape;8;p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spcBef>
                <a:spcPts val="0"/>
              </a:spcBef>
              <a:buNone/>
              <a:defRPr sz="2000" b="0" i="0" u="none" strike="noStrike" cap="none">
                <a:solidFill>
                  <a:schemeClr val="accent1"/>
                </a:solidFill>
                <a:latin typeface="Century Gothic"/>
                <a:ea typeface="Century Gothic"/>
                <a:cs typeface="Century Gothic"/>
                <a:sym typeface="Century Gothic"/>
              </a:defRPr>
            </a:lvl1pPr>
            <a:lvl2pPr marL="0" marR="0" lvl="1" indent="0" algn="r" rtl="0">
              <a:spcBef>
                <a:spcPts val="0"/>
              </a:spcBef>
              <a:buNone/>
              <a:defRPr sz="2000" b="0" i="0" u="none" strike="noStrike" cap="none">
                <a:solidFill>
                  <a:schemeClr val="accent1"/>
                </a:solidFill>
                <a:latin typeface="Century Gothic"/>
                <a:ea typeface="Century Gothic"/>
                <a:cs typeface="Century Gothic"/>
                <a:sym typeface="Century Gothic"/>
              </a:defRPr>
            </a:lvl2pPr>
            <a:lvl3pPr marL="0" marR="0" lvl="2" indent="0" algn="r" rtl="0">
              <a:spcBef>
                <a:spcPts val="0"/>
              </a:spcBef>
              <a:buNone/>
              <a:defRPr sz="2000" b="0" i="0" u="none" strike="noStrike" cap="none">
                <a:solidFill>
                  <a:schemeClr val="accent1"/>
                </a:solidFill>
                <a:latin typeface="Century Gothic"/>
                <a:ea typeface="Century Gothic"/>
                <a:cs typeface="Century Gothic"/>
                <a:sym typeface="Century Gothic"/>
              </a:defRPr>
            </a:lvl3pPr>
            <a:lvl4pPr marL="0" marR="0" lvl="3" indent="0" algn="r" rtl="0">
              <a:spcBef>
                <a:spcPts val="0"/>
              </a:spcBef>
              <a:buNone/>
              <a:defRPr sz="2000" b="0" i="0" u="none" strike="noStrike" cap="none">
                <a:solidFill>
                  <a:schemeClr val="accent1"/>
                </a:solidFill>
                <a:latin typeface="Century Gothic"/>
                <a:ea typeface="Century Gothic"/>
                <a:cs typeface="Century Gothic"/>
                <a:sym typeface="Century Gothic"/>
              </a:defRPr>
            </a:lvl4pPr>
            <a:lvl5pPr marL="0" marR="0" lvl="4" indent="0" algn="r" rtl="0">
              <a:spcBef>
                <a:spcPts val="0"/>
              </a:spcBef>
              <a:buNone/>
              <a:defRPr sz="2000" b="0" i="0" u="none" strike="noStrike" cap="none">
                <a:solidFill>
                  <a:schemeClr val="accent1"/>
                </a:solidFill>
                <a:latin typeface="Century Gothic"/>
                <a:ea typeface="Century Gothic"/>
                <a:cs typeface="Century Gothic"/>
                <a:sym typeface="Century Gothic"/>
              </a:defRPr>
            </a:lvl5pPr>
            <a:lvl6pPr marL="0" marR="0" lvl="5" indent="0" algn="r" rtl="0">
              <a:spcBef>
                <a:spcPts val="0"/>
              </a:spcBef>
              <a:buNone/>
              <a:defRPr sz="2000" b="0" i="0" u="none" strike="noStrike" cap="none">
                <a:solidFill>
                  <a:schemeClr val="accent1"/>
                </a:solidFill>
                <a:latin typeface="Century Gothic"/>
                <a:ea typeface="Century Gothic"/>
                <a:cs typeface="Century Gothic"/>
                <a:sym typeface="Century Gothic"/>
              </a:defRPr>
            </a:lvl6pPr>
            <a:lvl7pPr marL="0" marR="0" lvl="6" indent="0" algn="r" rtl="0">
              <a:spcBef>
                <a:spcPts val="0"/>
              </a:spcBef>
              <a:buNone/>
              <a:defRPr sz="2000" b="0" i="0" u="none" strike="noStrike" cap="none">
                <a:solidFill>
                  <a:schemeClr val="accent1"/>
                </a:solidFill>
                <a:latin typeface="Century Gothic"/>
                <a:ea typeface="Century Gothic"/>
                <a:cs typeface="Century Gothic"/>
                <a:sym typeface="Century Gothic"/>
              </a:defRPr>
            </a:lvl7pPr>
            <a:lvl8pPr marL="0" marR="0" lvl="7" indent="0" algn="r" rtl="0">
              <a:spcBef>
                <a:spcPts val="0"/>
              </a:spcBef>
              <a:buNone/>
              <a:defRPr sz="2000" b="0" i="0" u="none" strike="noStrike" cap="none">
                <a:solidFill>
                  <a:schemeClr val="accent1"/>
                </a:solidFill>
                <a:latin typeface="Century Gothic"/>
                <a:ea typeface="Century Gothic"/>
                <a:cs typeface="Century Gothic"/>
                <a:sym typeface="Century Gothic"/>
              </a:defRPr>
            </a:lvl8pPr>
            <a:lvl9pPr marL="0" marR="0" lvl="8" indent="0" algn="r" rtl="0">
              <a:spcBef>
                <a:spcPts val="0"/>
              </a:spcBef>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5400"/>
              <a:buFont typeface="Century Gothic"/>
              <a:buNone/>
            </a:pPr>
            <a:r>
              <a:rPr lang="en-IN" dirty="0"/>
              <a:t>Breaking </a:t>
            </a:r>
            <a:r>
              <a:rPr lang="en-IN" b="1" dirty="0"/>
              <a:t>a CAPTCHA system using Neural networks</a:t>
            </a:r>
            <a:br>
              <a:rPr lang="en-IN" b="1" dirty="0"/>
            </a:br>
            <a:endParaRPr/>
          </a:p>
        </p:txBody>
      </p:sp>
      <p:sp>
        <p:nvSpPr>
          <p:cNvPr id="116" name="Google Shape;116;p1"/>
          <p:cNvSpPr txBox="1">
            <a:spLocks noGrp="1"/>
          </p:cNvSpPr>
          <p:nvPr>
            <p:ph type="subTitle" idx="1"/>
          </p:nvPr>
        </p:nvSpPr>
        <p:spPr>
          <a:xfrm>
            <a:off x="810001" y="5280846"/>
            <a:ext cx="10572000" cy="111995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dirty="0" smtClean="0"/>
              <a:t> </a:t>
            </a:r>
            <a:r>
              <a:rPr lang="en-US" sz="2800" dirty="0" smtClean="0"/>
              <a:t>Aman Kr Mishra – 20BCE1382</a:t>
            </a:r>
            <a:endParaRPr sz="2800"/>
          </a:p>
          <a:p>
            <a:pPr marL="0" indent="0">
              <a:spcBef>
                <a:spcPts val="960"/>
              </a:spcBef>
            </a:pPr>
            <a:r>
              <a:rPr lang="en-IN" sz="2800" dirty="0" smtClean="0"/>
              <a:t> </a:t>
            </a:r>
            <a:r>
              <a:rPr lang="en-US" sz="2800" dirty="0" smtClean="0">
                <a:solidFill>
                  <a:schemeClr val="bg1"/>
                </a:solidFill>
              </a:rPr>
              <a:t>Ansh Goel  -  20BCE1798</a:t>
            </a:r>
            <a:endParaRPr lang="en-IN" sz="2800" dirty="0" smtClean="0">
              <a:solidFill>
                <a:schemeClr val="bg1"/>
              </a:solidFill>
            </a:endParaRPr>
          </a:p>
          <a:p>
            <a:pPr marL="0" lvl="0" indent="0">
              <a:spcBef>
                <a:spcPts val="960"/>
              </a:spcBef>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Abstract</a:t>
            </a:r>
            <a:endParaRPr/>
          </a:p>
        </p:txBody>
      </p:sp>
      <p:sp>
        <p:nvSpPr>
          <p:cNvPr id="122" name="Google Shape;122;p2"/>
          <p:cNvSpPr txBox="1">
            <a:spLocks noGrp="1"/>
          </p:cNvSpPr>
          <p:nvPr>
            <p:ph type="body" idx="1"/>
          </p:nvPr>
        </p:nvSpPr>
        <p:spPr>
          <a:xfrm>
            <a:off x="818712" y="2222287"/>
            <a:ext cx="10554574" cy="40261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10000"/>
          </a:bodyPr>
          <a:lstStyle/>
          <a:p>
            <a:pPr marL="342900" lvl="0" algn="just">
              <a:spcBef>
                <a:spcPts val="0"/>
              </a:spcBef>
            </a:pPr>
            <a:r>
              <a:rPr lang="en-US" dirty="0" smtClean="0"/>
              <a:t>Captcha or Completely Automated Public Turing test to tell </a:t>
            </a:r>
            <a:r>
              <a:rPr lang="en-US" dirty="0" smtClean="0"/>
              <a:t>Computers that the operator is  human or not </a:t>
            </a:r>
            <a:r>
              <a:rPr lang="en-US" dirty="0" smtClean="0"/>
              <a:t>. Almost every website now have process of checking whether the website is being crawled by some sort of automated bots or not .Earlier there was too much attacks on the website using bots which used to cause a lot of harm to the big companies so they invented Completely Automated Public Turing test to tell Computers and Humans Apart which no doubt helped them a lot in preventing the attacks via bots but now the world is much more advanced and with some lines of codes we can break various types of captchas and that is what we are doing in this paper proving the point that now c</a:t>
            </a:r>
            <a:r>
              <a:rPr lang="en-US" dirty="0" smtClean="0"/>
              <a:t>aptchas </a:t>
            </a:r>
            <a:r>
              <a:rPr lang="en-US" dirty="0" smtClean="0"/>
              <a:t>are just a matter of hindrance that decreases the human experience with the various websites as even sometimes they cannot enter the captcha that a bot can easily break and waste the important time of human. So here in our study we proved our point by breaking the various sorts of captchas like numerical, alphanumerical, circle captcha, captcha v2 etc. . We are proving our points by getting pretty good accuracies .We used </a:t>
            </a:r>
            <a:r>
              <a:rPr lang="en-US" dirty="0" smtClean="0"/>
              <a:t>Convolutional </a:t>
            </a:r>
            <a:r>
              <a:rPr lang="en-US" dirty="0" smtClean="0"/>
              <a:t>neural network for </a:t>
            </a:r>
            <a:r>
              <a:rPr lang="en-US" dirty="0" smtClean="0"/>
              <a:t>our </a:t>
            </a:r>
            <a:r>
              <a:rPr lang="en-US" dirty="0" smtClean="0"/>
              <a:t>purpose some captchas were easy to break with only a few layers while some took pretty big networks. In the end we will also be discussing some ways that makes the websites more secure and much easy for the humans to enter a website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Text Placeholder 2"/>
          <p:cNvSpPr>
            <a:spLocks noGrp="1"/>
          </p:cNvSpPr>
          <p:nvPr>
            <p:ph type="body" idx="1"/>
          </p:nvPr>
        </p:nvSpPr>
        <p:spPr/>
        <p:txBody>
          <a:bodyPr/>
          <a:lstStyle/>
          <a:p>
            <a:pPr algn="just"/>
            <a:r>
              <a:rPr lang="en-US" dirty="0" smtClean="0">
                <a:latin typeface="Arial"/>
                <a:ea typeface="Arial"/>
                <a:cs typeface="Arial"/>
                <a:sym typeface="Arial"/>
              </a:rPr>
              <a:t>Text-based CAPTCHAs are most commonly used by various websites to distinguish between humans and computers. It is used as a security measure. This work consists of a dynamic approach that is proposed to predict Text-based CAPTCHAs that challenges the supposition that they cannot be solved by computers. Three types of CAPTCHAs namely Rotated, Noisy Arc, Complicated Background have been taken.</a:t>
            </a:r>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IDENTIFIED</a:t>
            </a:r>
            <a:endParaRPr lang="en-US" dirty="0"/>
          </a:p>
        </p:txBody>
      </p:sp>
      <p:sp>
        <p:nvSpPr>
          <p:cNvPr id="3" name="Text Placeholder 2"/>
          <p:cNvSpPr>
            <a:spLocks noGrp="1"/>
          </p:cNvSpPr>
          <p:nvPr>
            <p:ph type="body" idx="1"/>
          </p:nvPr>
        </p:nvSpPr>
        <p:spPr/>
        <p:txBody>
          <a:bodyPr/>
          <a:lstStyle/>
          <a:p>
            <a:pPr lvl="0"/>
            <a:r>
              <a:rPr lang="en-US" dirty="0" smtClean="0">
                <a:latin typeface="Arial"/>
                <a:ea typeface="Arial"/>
                <a:cs typeface="Arial"/>
                <a:sym typeface="Arial"/>
              </a:rPr>
              <a:t>Text-based CAPTCHAs are most common but we believe that it should not be used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Base Papers</a:t>
            </a:r>
            <a:endParaRPr lang="en-US" dirty="0"/>
          </a:p>
        </p:txBody>
      </p:sp>
      <p:sp>
        <p:nvSpPr>
          <p:cNvPr id="3" name="Text Placeholder 2"/>
          <p:cNvSpPr>
            <a:spLocks noGrp="1"/>
          </p:cNvSpPr>
          <p:nvPr>
            <p:ph type="body" idx="1"/>
          </p:nvPr>
        </p:nvSpPr>
        <p:spPr/>
        <p:txBody>
          <a:bodyPr/>
          <a:lstStyle/>
          <a:p>
            <a:pPr marL="342900" lvl="0">
              <a:spcBef>
                <a:spcPts val="0"/>
              </a:spcBef>
            </a:pPr>
            <a:r>
              <a:rPr lang="en-IN" dirty="0" smtClean="0"/>
              <a:t>Paper 1 - https://arxiv.org/pdf/2006.08296v2.pdf </a:t>
            </a:r>
          </a:p>
          <a:p>
            <a:pPr marL="342900" lvl="0">
              <a:spcBef>
                <a:spcPts val="960"/>
              </a:spcBef>
            </a:pPr>
            <a:r>
              <a:rPr lang="en-IN" dirty="0" smtClean="0"/>
              <a:t>Paper 2 </a:t>
            </a:r>
            <a:r>
              <a:rPr lang="en-IN" dirty="0" smtClean="0">
                <a:solidFill>
                  <a:schemeClr val="bg1"/>
                </a:solidFill>
              </a:rPr>
              <a:t>- https://arxiv.org/pdf/2006.11373v1.pdf</a:t>
            </a:r>
          </a:p>
          <a:p>
            <a:pPr marL="342900" lvl="0">
              <a:spcBef>
                <a:spcPts val="960"/>
              </a:spcBef>
            </a:pPr>
            <a:r>
              <a:rPr lang="en-IN" dirty="0" smtClean="0"/>
              <a:t>Paper 3 - http://www.cs.columbia.edu/~polakis/papers/sivakorn_eurosp16.pdf</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0" y="381000"/>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dirty="0" smtClean="0"/>
              <a:t>PROPOSED SOLUTION</a:t>
            </a:r>
            <a:endParaRPr/>
          </a:p>
        </p:txBody>
      </p:sp>
      <p:sp>
        <p:nvSpPr>
          <p:cNvPr id="128" name="Google Shape;128;p3"/>
          <p:cNvSpPr txBox="1">
            <a:spLocks noGrp="1"/>
          </p:cNvSpPr>
          <p:nvPr>
            <p:ph type="body" idx="1"/>
          </p:nvPr>
        </p:nvSpPr>
        <p:spPr>
          <a:xfrm>
            <a:off x="818712" y="2222287"/>
            <a:ext cx="10554574" cy="21973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342900" lvl="0" indent="-342900" algn="l" rtl="0">
              <a:spcBef>
                <a:spcPts val="0"/>
              </a:spcBef>
              <a:spcAft>
                <a:spcPts val="0"/>
              </a:spcAft>
              <a:buSzPts val="1800"/>
              <a:buNone/>
            </a:pPr>
            <a:r>
              <a:rPr lang="en-IN" b="0" i="0" dirty="0" smtClean="0">
                <a:latin typeface="Arial"/>
                <a:ea typeface="Arial"/>
                <a:cs typeface="Arial"/>
                <a:sym typeface="Arial"/>
              </a:rPr>
              <a:t>	Text-based </a:t>
            </a:r>
            <a:r>
              <a:rPr lang="en-IN" b="0" i="0" dirty="0">
                <a:latin typeface="Arial"/>
                <a:ea typeface="Arial"/>
                <a:cs typeface="Arial"/>
                <a:sym typeface="Arial"/>
              </a:rPr>
              <a:t>CAPTCHAs are most common but we believe that it </a:t>
            </a:r>
            <a:r>
              <a:rPr lang="en-IN" dirty="0">
                <a:latin typeface="Arial"/>
                <a:ea typeface="Arial"/>
                <a:cs typeface="Arial"/>
                <a:sym typeface="Arial"/>
              </a:rPr>
              <a:t>should not be used</a:t>
            </a:r>
            <a:r>
              <a:rPr lang="en-IN" b="0" i="0" dirty="0">
                <a:latin typeface="Arial"/>
                <a:ea typeface="Arial"/>
                <a:cs typeface="Arial"/>
                <a:sym typeface="Arial"/>
              </a:rPr>
              <a:t>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r>
              <a:rPr lang="en-IN" b="0" i="0" dirty="0" smtClean="0">
                <a:latin typeface="Arial"/>
                <a:ea typeface="Arial"/>
                <a:cs typeface="Arial"/>
                <a:sym typeface="Arial"/>
              </a:rPr>
              <a:t>.</a:t>
            </a:r>
          </a:p>
          <a:p>
            <a:pPr marL="342900" lvl="0" indent="-342900" algn="l" rtl="0">
              <a:spcBef>
                <a:spcPts val="0"/>
              </a:spcBef>
              <a:spcAft>
                <a:spcPts val="0"/>
              </a:spcAft>
              <a:buSzPts val="1800"/>
              <a:buChar char="🞆"/>
            </a:pPr>
            <a:endParaRPr/>
          </a:p>
        </p:txBody>
      </p:sp>
      <p:pic>
        <p:nvPicPr>
          <p:cNvPr id="4" name="Google Shape;146;p6"/>
          <p:cNvPicPr preferRelativeResize="0">
            <a:picLocks/>
          </p:cNvPicPr>
          <p:nvPr/>
        </p:nvPicPr>
        <p:blipFill rotWithShape="1">
          <a:blip r:embed="rId3">
            <a:alphaModFix/>
          </a:blip>
          <a:srcRect/>
          <a:stretch/>
        </p:blipFill>
        <p:spPr>
          <a:xfrm>
            <a:off x="2209800" y="4114800"/>
            <a:ext cx="8020500" cy="1892400"/>
          </a:xfrm>
          <a:prstGeom prst="rect">
            <a:avLst/>
          </a:prstGeom>
          <a:noFill/>
          <a:ln>
            <a:noFill/>
          </a:ln>
          <a:effectLst>
            <a:outerShdw blurRad="5080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4000"/>
              <a:buFont typeface="Century Gothic"/>
              <a:buNone/>
            </a:pPr>
            <a:r>
              <a:rPr lang="en-US" dirty="0" smtClean="0"/>
              <a:t>TECHNOLOGIES / SOFTWARE / HARDWARE</a:t>
            </a:r>
            <a:endParaRPr/>
          </a:p>
        </p:txBody>
      </p:sp>
      <p:sp>
        <p:nvSpPr>
          <p:cNvPr id="140" name="Google Shape;140;p5"/>
          <p:cNvSpPr txBox="1">
            <a:spLocks noGrp="1"/>
          </p:cNvSpPr>
          <p:nvPr>
            <p:ph type="body" idx="1"/>
          </p:nvPr>
        </p:nvSpPr>
        <p:spPr>
          <a:xfrm>
            <a:off x="810000" y="2286000"/>
            <a:ext cx="10554574" cy="396240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r>
              <a:rPr lang="en-US" dirty="0" smtClean="0"/>
              <a:t>To complete this project, we needed the following: </a:t>
            </a:r>
          </a:p>
          <a:p>
            <a:pPr marL="0" indent="0">
              <a:buNone/>
            </a:pPr>
            <a:r>
              <a:rPr lang="en-US" dirty="0" smtClean="0"/>
              <a:t>          A local development environment for Python 3  with</a:t>
            </a:r>
          </a:p>
          <a:p>
            <a:r>
              <a:rPr lang="en-US" dirty="0" smtClean="0"/>
              <a:t>Modern Operating System:</a:t>
            </a:r>
          </a:p>
          <a:p>
            <a:r>
              <a:rPr lang="en-US" dirty="0" smtClean="0"/>
              <a:t>Windows 7 or 10</a:t>
            </a:r>
          </a:p>
          <a:p>
            <a:r>
              <a:rPr lang="en-US" dirty="0" smtClean="0"/>
              <a:t>Mac OS X 10.11 or higher, 64-bit</a:t>
            </a:r>
          </a:p>
          <a:p>
            <a:r>
              <a:rPr lang="en-US" dirty="0" smtClean="0"/>
              <a:t>Linux: RHEL 6/7, 64-bit (almost all libraries also work in </a:t>
            </a:r>
            <a:r>
              <a:rPr lang="en-US" dirty="0" err="1" smtClean="0"/>
              <a:t>Ubuntu</a:t>
            </a:r>
            <a:r>
              <a:rPr lang="en-US" dirty="0" smtClean="0"/>
              <a:t>)</a:t>
            </a:r>
          </a:p>
          <a:p>
            <a:r>
              <a:rPr lang="en-US" dirty="0" smtClean="0"/>
              <a:t>x86 64-bit CPU (Intel / AMD architecture)</a:t>
            </a:r>
          </a:p>
          <a:p>
            <a:r>
              <a:rPr lang="en-US" dirty="0" smtClean="0"/>
              <a:t>4 GB RAM</a:t>
            </a:r>
          </a:p>
          <a:p>
            <a:r>
              <a:rPr lang="en-US" dirty="0" smtClean="0"/>
              <a:t>5 GB free disk space </a:t>
            </a:r>
          </a:p>
          <a:p>
            <a:r>
              <a:rPr lang="en-US" dirty="0" smtClean="0"/>
              <a:t>A working webcam to do real-time image detection.</a:t>
            </a:r>
          </a:p>
          <a:p>
            <a:r>
              <a:rPr lang="en-US" dirty="0" smtClean="0"/>
              <a:t>We will build a sign language classifier using a neural network. Our goal is to produce a model that accepts a picture of a hand as input and outputs a letter.</a:t>
            </a:r>
          </a:p>
          <a:p>
            <a:pPr marL="0" lvl="0" indent="0" algn="l" rtl="0">
              <a:spcBef>
                <a:spcPts val="933"/>
              </a:spcBef>
              <a:spcAft>
                <a:spcPts val="0"/>
              </a:spcAft>
              <a:buSzPct val="1000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Text Placeholder 2"/>
          <p:cNvSpPr>
            <a:spLocks noGrp="1"/>
          </p:cNvSpPr>
          <p:nvPr>
            <p:ph type="body" idx="1"/>
          </p:nvPr>
        </p:nvSpPr>
        <p:spPr>
          <a:xfrm>
            <a:off x="818712" y="2362200"/>
            <a:ext cx="10554574" cy="4114800"/>
          </a:xfrm>
        </p:spPr>
        <p:txBody>
          <a:bodyPr>
            <a:normAutofit lnSpcReduction="10000"/>
          </a:bodyPr>
          <a:lstStyle/>
          <a:p>
            <a:pPr marL="342900" lvl="0">
              <a:spcBef>
                <a:spcPts val="0"/>
              </a:spcBef>
              <a:buSzPct val="100000"/>
            </a:pPr>
            <a:r>
              <a:rPr lang="en-US" b="1" dirty="0" smtClean="0"/>
              <a:t>Python 3</a:t>
            </a:r>
            <a:endParaRPr lang="en-US" dirty="0" smtClean="0"/>
          </a:p>
          <a:p>
            <a:pPr marL="0" lvl="0" indent="0">
              <a:spcBef>
                <a:spcPts val="933"/>
              </a:spcBef>
              <a:buSzPct val="100000"/>
              <a:buNone/>
            </a:pPr>
            <a:r>
              <a:rPr lang="en-US" dirty="0" smtClean="0"/>
              <a:t>Python is a fun programming language with great libraries for machine learning and computer vision.</a:t>
            </a:r>
          </a:p>
          <a:p>
            <a:pPr marL="342900" lvl="0">
              <a:spcBef>
                <a:spcPts val="933"/>
              </a:spcBef>
              <a:buSzPct val="100000"/>
            </a:pPr>
            <a:r>
              <a:rPr lang="en-US" b="1" dirty="0" smtClean="0"/>
              <a:t>OpenCV</a:t>
            </a:r>
            <a:endParaRPr lang="en-US" dirty="0" smtClean="0"/>
          </a:p>
          <a:p>
            <a:pPr marL="0" lvl="0" indent="0">
              <a:spcBef>
                <a:spcPts val="933"/>
              </a:spcBef>
              <a:buSzPct val="100000"/>
              <a:buNone/>
            </a:pPr>
            <a:r>
              <a:rPr lang="en-US" dirty="0" smtClean="0"/>
              <a:t>OpenCV is a popular framework for computer vision and image processing. We’ll use OpenCV to process the CAPTCHA images. It has a Python API so we can use it directly from Python.</a:t>
            </a:r>
          </a:p>
          <a:p>
            <a:pPr marL="342900" lvl="0">
              <a:spcBef>
                <a:spcPts val="933"/>
              </a:spcBef>
              <a:buSzPct val="100000"/>
            </a:pPr>
            <a:r>
              <a:rPr lang="en-US" b="1" dirty="0" smtClean="0"/>
              <a:t>Keras</a:t>
            </a:r>
            <a:endParaRPr lang="en-US" dirty="0" smtClean="0"/>
          </a:p>
          <a:p>
            <a:pPr marL="0" lvl="0" indent="0">
              <a:spcBef>
                <a:spcPts val="933"/>
              </a:spcBef>
              <a:buSzPct val="100000"/>
              <a:buNone/>
            </a:pPr>
            <a:r>
              <a:rPr lang="en-US" dirty="0" smtClean="0"/>
              <a:t>Keras is a deep learning framework written in Python. It makes it easy to define, train and use deep neural networks with minimal coding.</a:t>
            </a:r>
          </a:p>
          <a:p>
            <a:pPr marL="342900" lvl="0">
              <a:spcBef>
                <a:spcPts val="933"/>
              </a:spcBef>
              <a:buSzPct val="100000"/>
            </a:pPr>
            <a:r>
              <a:rPr lang="en-US" b="1" dirty="0" smtClean="0"/>
              <a:t>Pytorch</a:t>
            </a:r>
          </a:p>
          <a:p>
            <a:pPr marL="0" lvl="0" indent="0">
              <a:spcBef>
                <a:spcPts val="933"/>
              </a:spcBef>
              <a:buSzPct val="100000"/>
              <a:buNone/>
            </a:pPr>
            <a:r>
              <a:rPr lang="en-US" dirty="0" err="1" smtClean="0">
                <a:latin typeface="arial"/>
                <a:ea typeface="arial"/>
                <a:cs typeface="arial"/>
                <a:sym typeface="arial"/>
              </a:rPr>
              <a:t>PyTorch</a:t>
            </a:r>
            <a:r>
              <a:rPr lang="en-US" dirty="0" smtClean="0">
                <a:latin typeface="arial"/>
                <a:ea typeface="arial"/>
                <a:cs typeface="arial"/>
                <a:sym typeface="arial"/>
              </a:rPr>
              <a:t> is a library for Python programs that facilitates building deep learning projects</a:t>
            </a:r>
            <a:endParaRPr lang="en-US" dirty="0" smtClean="0"/>
          </a:p>
          <a:p>
            <a:pPr marL="0" lvl="0" indent="0">
              <a:spcBef>
                <a:spcPts val="933"/>
              </a:spcBef>
              <a:buSzPct val="100000"/>
              <a:buNone/>
            </a:pPr>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Our model architecture</a:t>
            </a:r>
            <a:endParaRPr/>
          </a:p>
        </p:txBody>
      </p:sp>
      <p:pic>
        <p:nvPicPr>
          <p:cNvPr id="152" name="Google Shape;152;p7"/>
          <p:cNvPicPr preferRelativeResize="0">
            <a:picLocks noGrp="1"/>
          </p:cNvPicPr>
          <p:nvPr>
            <p:ph type="body" idx="1"/>
          </p:nvPr>
        </p:nvPicPr>
        <p:blipFill rotWithShape="1">
          <a:blip r:embed="rId3">
            <a:alphaModFix/>
          </a:blip>
          <a:srcRect/>
          <a:stretch/>
        </p:blipFill>
        <p:spPr>
          <a:xfrm>
            <a:off x="968111" y="2631209"/>
            <a:ext cx="10255777" cy="2819545"/>
          </a:xfrm>
          <a:prstGeom prst="rect">
            <a:avLst/>
          </a:prstGeom>
          <a:noFill/>
          <a:ln>
            <a:noFill/>
          </a:ln>
          <a:effectLst>
            <a:outerShdw blurRad="50800">
              <a:srgbClr val="000000">
                <a:alpha val="4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 As HCI J Comp. Project</a:t>
            </a:r>
            <a:endParaRPr lang="en-US" dirty="0"/>
          </a:p>
        </p:txBody>
      </p:sp>
      <p:sp>
        <p:nvSpPr>
          <p:cNvPr id="3" name="Text Placeholder 2"/>
          <p:cNvSpPr>
            <a:spLocks noGrp="1"/>
          </p:cNvSpPr>
          <p:nvPr>
            <p:ph type="body" idx="1"/>
          </p:nvPr>
        </p:nvSpPr>
        <p:spPr/>
        <p:txBody>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Expected Contributions / Student wise</a:t>
            </a:r>
            <a:endParaRPr lang="en-US" dirty="0"/>
          </a:p>
        </p:txBody>
      </p:sp>
      <p:sp>
        <p:nvSpPr>
          <p:cNvPr id="3" name="Text Placeholder 2"/>
          <p:cNvSpPr>
            <a:spLocks noGrp="1"/>
          </p:cNvSpPr>
          <p:nvPr>
            <p:ph type="body" idx="1"/>
          </p:nvPr>
        </p:nvSpPr>
        <p:spPr/>
        <p:txBody>
          <a:bodyPr/>
          <a:lstStyle/>
          <a:p>
            <a:pPr marL="0" indent="0">
              <a:buNone/>
            </a:pPr>
            <a:r>
              <a:rPr lang="en-US" dirty="0" smtClean="0"/>
              <a:t>Aman Kr Mishra -  </a:t>
            </a:r>
            <a:r>
              <a:rPr lang="en-US" dirty="0" smtClean="0"/>
              <a:t>  Preparing the prediction </a:t>
            </a:r>
            <a:r>
              <a:rPr lang="en-US" dirty="0" smtClean="0"/>
              <a:t>Classifications Dataset</a:t>
            </a:r>
          </a:p>
          <a:p>
            <a:pPr marL="0" indent="0">
              <a:buNone/>
            </a:pPr>
            <a:r>
              <a:rPr lang="en-US" dirty="0" smtClean="0"/>
              <a:t>                                  Building and Training </a:t>
            </a:r>
            <a:r>
              <a:rPr lang="en-US" dirty="0" smtClean="0"/>
              <a:t>the data</a:t>
            </a:r>
            <a:endParaRPr lang="en-US" dirty="0" smtClean="0"/>
          </a:p>
          <a:p>
            <a:pPr marL="0" indent="0">
              <a:buNone/>
            </a:pPr>
            <a:r>
              <a:rPr lang="en-US" dirty="0" smtClean="0"/>
              <a:t>                                  Data preprocessing </a:t>
            </a:r>
            <a:r>
              <a:rPr lang="en-US" dirty="0" smtClean="0"/>
              <a:t>and Testing</a:t>
            </a:r>
            <a:endParaRPr lang="en-US" dirty="0" smtClean="0"/>
          </a:p>
          <a:p>
            <a:pPr marL="0" indent="0">
              <a:buNone/>
            </a:pPr>
            <a:endParaRPr lang="en-US" dirty="0" smtClean="0"/>
          </a:p>
          <a:p>
            <a:pPr marL="0" indent="0">
              <a:buNone/>
            </a:pPr>
            <a:r>
              <a:rPr lang="en-US" dirty="0" smtClean="0"/>
              <a:t>Ansh Goel -             Saving Models and Weights</a:t>
            </a:r>
          </a:p>
          <a:p>
            <a:pPr marL="0" indent="0">
              <a:buNone/>
            </a:pPr>
            <a:r>
              <a:rPr lang="en-US" dirty="0" smtClean="0"/>
              <a:t>                                  Define Keras neural network that includes the layers                                   </a:t>
            </a:r>
          </a:p>
          <a:p>
            <a:pPr marL="0" indent="0">
              <a:buNone/>
            </a:pPr>
            <a:r>
              <a:rPr lang="en-US" dirty="0" smtClean="0"/>
              <a:t>                                  </a:t>
            </a:r>
          </a:p>
          <a:p>
            <a:endParaRPr lang="en-US" dirty="0"/>
          </a:p>
        </p:txBody>
      </p:sp>
    </p:spTree>
  </p:cSld>
  <p:clrMapOvr>
    <a:masterClrMapping/>
  </p:clrMapOvr>
</p:sld>
</file>

<file path=ppt/theme/theme1.xml><?xml version="1.0" encoding="utf-8"?>
<a:theme xmlns:a="http://schemas.openxmlformats.org/drawingml/2006/main" name="Quotable">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707</Words>
  <PresentationFormat>Custom</PresentationFormat>
  <Paragraphs>46</Paragraphs>
  <Slides>11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Noto Sans Symbols</vt:lpstr>
      <vt:lpstr>Quotable</vt:lpstr>
      <vt:lpstr>Breaking a CAPTCHA system using Neural networks </vt:lpstr>
      <vt:lpstr>Abstract</vt:lpstr>
      <vt:lpstr>Contd.</vt:lpstr>
      <vt:lpstr>PROBLEM IDENTIFIED</vt:lpstr>
      <vt:lpstr>Base Papers</vt:lpstr>
      <vt:lpstr>PROPOSED SOLUTION</vt:lpstr>
      <vt:lpstr>TECHNOLOGIES / SOFTWARE / HARDWARE</vt:lpstr>
      <vt:lpstr>Contd.</vt:lpstr>
      <vt:lpstr>Our model architecture</vt:lpstr>
      <vt:lpstr>Why – As HCI J Comp. Project</vt:lpstr>
      <vt:lpstr>Expected Contributions / Student wise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Breaking a CAPTCHA system using Neural networks </dc:title>
  <dc:creator>Akshat Sharma</dc:creator>
  <cp:lastModifiedBy>microsoft</cp:lastModifiedBy>
  <cp:revision>8</cp:revision>
  <dcterms:created xsi:type="dcterms:W3CDTF">2021-08-21T06:37:43Z</dcterms:created>
  <dcterms:modified xsi:type="dcterms:W3CDTF">2022-09-14T18:02:49Z</dcterms:modified>
</cp:coreProperties>
</file>