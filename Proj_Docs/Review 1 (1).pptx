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63" r:id="rId6"/>
    <p:sldId id="264" r:id="rId7"/>
    <p:sldId id="266" r:id="rId8"/>
    <p:sldId id="267" r:id="rId9"/>
    <p:sldId id="268" r:id="rId10"/>
    <p:sldId id="269" r:id="rId11"/>
    <p:sldId id="270" r:id="rId12"/>
    <p:sldId id="271" r:id="rId13"/>
    <p:sldId id="272"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266"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4FA04C-D7CF-4861-95F0-3F5ACF508755}" type="datetimeFigureOut">
              <a:rPr lang="en-US" smtClean="0"/>
              <a:t>8/18/2022</a:t>
            </a:fld>
            <a:endParaRPr lang="en-US" dirty="0"/>
          </a:p>
        </p:txBody>
      </p:sp>
      <p:sp>
        <p:nvSpPr>
          <p:cNvPr id="5" name="Footer Placeholder 4"/>
          <p:cNvSpPr>
            <a:spLocks noGrp="1"/>
          </p:cNvSpPr>
          <p:nvPr>
            <p:ph type="ftr" sz="quarter" idx="11"/>
          </p:nvPr>
        </p:nvSpPr>
        <p:spPr>
          <a:xfrm>
            <a:off x="812805" y="6272785"/>
            <a:ext cx="4745736" cy="365125"/>
          </a:xfrm>
        </p:spPr>
        <p:txBody>
          <a:bodyPr/>
          <a:lstStyle/>
          <a:p>
            <a:endParaRPr lang="en-US" dirty="0"/>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90598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6BC42F-EA91-460E-9436-9A6C9B1CB0C6}" type="datetimeFigureOut">
              <a:rPr lang="en-US" smtClean="0"/>
              <a:t>8/18/2022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52375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823D4350-0632-4F67-B357-AFC21C62564D}" type="datetimeFigureOut">
              <a:rPr lang="en-US" smtClean="0"/>
              <a:t>8/18/2022</a:t>
            </a:fld>
            <a:endParaRPr lang="en-US" dirty="0"/>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dirty="0"/>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83787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F31A35-803D-44FA-BA88-E6B5FB347587}" type="datetimeFigureOut">
              <a:rPr lang="en-US" smtClean="0"/>
              <a:t>8/18/2022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209250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56CED-B3EE-49D9-9922-CBB48E543356}" type="datetimeFigureOut">
              <a:rPr lang="en-US" smtClean="0"/>
              <a:t>8/18/2022</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690923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3F9237B0-CC05-45CB-9D8E-44851499E325}" type="datetimeFigureOut">
              <a:rPr lang="en-US" smtClean="0"/>
              <a:t>8/18/2022</a:t>
            </a:fld>
            <a:endParaRPr lang="en-US" dirty="0"/>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63950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B41777-83B6-4CFA-89A1-52400FB2059F}" type="datetimeFigureOut">
              <a:rPr lang="en-US" smtClean="0"/>
              <a:t>8/18/2022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904987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9" name="Date Placeholder 8"/>
          <p:cNvSpPr>
            <a:spLocks noGrp="1"/>
          </p:cNvSpPr>
          <p:nvPr>
            <p:ph type="dt" sz="half" idx="10"/>
          </p:nvPr>
        </p:nvSpPr>
        <p:spPr/>
        <p:txBody>
          <a:bodyPr/>
          <a:lstStyle/>
          <a:p>
            <a:fld id="{6F6AA2A1-C9A8-42DC-AF5F-29D58FE3A81E}" type="datetimeFigureOut">
              <a:rPr lang="en-US" smtClean="0"/>
              <a:t>8/18/2022</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85537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p:cNvSpPr>
          <p:nvPr>
            <p:ph type="pic" idx="1"/>
          </p:nvPr>
        </p:nvSpPr>
        <p:spPr>
          <a:xfrm>
            <a:off x="0" y="0"/>
            <a:ext cx="6227805"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Date Placeholder 7"/>
          <p:cNvSpPr>
            <a:spLocks noGrp="1"/>
          </p:cNvSpPr>
          <p:nvPr>
            <p:ph type="dt" sz="half" idx="10"/>
          </p:nvPr>
        </p:nvSpPr>
        <p:spPr/>
        <p:txBody>
          <a:bodyPr/>
          <a:lstStyle/>
          <a:p>
            <a:fld id="{18FC28B6-2144-4760-B3DF-18C646FA52B1}" type="datetimeFigureOut">
              <a:rPr lang="en-US" smtClean="0"/>
              <a:t>8/18/2022</a:t>
            </a:fld>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20857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B45B24B-F41A-4540-8EEC-C29B4F79802D}" type="datetimeFigureOut">
              <a:rPr lang="en-US" smtClean="0"/>
              <a:t>8/18/2022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20968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BF989E-5397-49EE-B0F5-E72D9FFD7EC0}" type="datetimeFigureOut">
              <a:rPr lang="en-US" smtClean="0"/>
              <a:t>8/18/2022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75522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251F38EA-B09F-4C97-9264-D1353869D1EA}" type="datetimeFigureOut">
              <a:rPr lang="en-US" smtClean="0"/>
              <a:t>8/18/2022</a:t>
            </a:fld>
            <a:endParaRPr lang="en-US" dirty="0"/>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424863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ciencedirect.com/science/article/abs/pii/S0031320321003824" TargetMode="External"/><Relationship Id="rId2" Type="http://schemas.openxmlformats.org/officeDocument/2006/relationships/hyperlink" Target="https://www.researchgate.net/publication/323713259_Image_to_Text_Conversion_State_of_the_Art_and_Extended_Work"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412776"/>
            <a:ext cx="7772400" cy="1470025"/>
          </a:xfrm>
        </p:spPr>
        <p:txBody>
          <a:bodyPr/>
          <a:lstStyle/>
          <a:p>
            <a:r>
              <a:rPr lang="en-US" dirty="0"/>
              <a:t>Braille for Deaf</a:t>
            </a:r>
            <a:endParaRPr lang="en-IN" dirty="0"/>
          </a:p>
        </p:txBody>
      </p:sp>
      <p:sp>
        <p:nvSpPr>
          <p:cNvPr id="3" name="Subtitle 2"/>
          <p:cNvSpPr>
            <a:spLocks noGrp="1"/>
          </p:cNvSpPr>
          <p:nvPr>
            <p:ph type="subTitle" idx="1"/>
          </p:nvPr>
        </p:nvSpPr>
        <p:spPr>
          <a:xfrm>
            <a:off x="1183060" y="4610100"/>
            <a:ext cx="6400800" cy="835124"/>
          </a:xfrm>
        </p:spPr>
        <p:txBody>
          <a:bodyPr>
            <a:normAutofit/>
          </a:bodyPr>
          <a:lstStyle/>
          <a:p>
            <a:r>
              <a:rPr lang="en-US" sz="2000" dirty="0">
                <a:solidFill>
                  <a:schemeClr val="tx1"/>
                </a:solidFill>
              </a:rPr>
              <a:t>Aman Kr Mishra  -  20BCE1382</a:t>
            </a:r>
          </a:p>
          <a:p>
            <a:r>
              <a:rPr lang="en-US" sz="2000" dirty="0">
                <a:solidFill>
                  <a:schemeClr val="tx1"/>
                </a:solidFill>
              </a:rPr>
              <a:t>Ansh Goel  -  20BCE1798</a:t>
            </a:r>
            <a:endParaRPr lang="en-IN" sz="2000" dirty="0">
              <a:solidFill>
                <a:schemeClr val="tx1"/>
              </a:solidFill>
            </a:endParaRPr>
          </a:p>
        </p:txBody>
      </p:sp>
    </p:spTree>
    <p:extLst>
      <p:ext uri="{BB962C8B-B14F-4D97-AF65-F5344CB8AC3E}">
        <p14:creationId xmlns:p14="http://schemas.microsoft.com/office/powerpoint/2010/main" val="1684231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55C49-0C29-4008-9195-0FF8C7C84541}"/>
              </a:ext>
            </a:extLst>
          </p:cNvPr>
          <p:cNvSpPr>
            <a:spLocks noGrp="1"/>
          </p:cNvSpPr>
          <p:nvPr>
            <p:ph type="title"/>
          </p:nvPr>
        </p:nvSpPr>
        <p:spPr>
          <a:xfrm>
            <a:off x="323528" y="260648"/>
            <a:ext cx="8229600" cy="1143000"/>
          </a:xfrm>
        </p:spPr>
        <p:txBody>
          <a:bodyPr/>
          <a:lstStyle/>
          <a:p>
            <a:r>
              <a:rPr lang="en-US" dirty="0"/>
              <a:t>Abstract</a:t>
            </a:r>
          </a:p>
        </p:txBody>
      </p:sp>
      <p:sp>
        <p:nvSpPr>
          <p:cNvPr id="3" name="Content Placeholder 2">
            <a:extLst>
              <a:ext uri="{FF2B5EF4-FFF2-40B4-BE49-F238E27FC236}">
                <a16:creationId xmlns:a16="http://schemas.microsoft.com/office/drawing/2014/main" id="{D623DAA8-6133-4D5F-958B-C15C87EC82E7}"/>
              </a:ext>
            </a:extLst>
          </p:cNvPr>
          <p:cNvSpPr>
            <a:spLocks noGrp="1"/>
          </p:cNvSpPr>
          <p:nvPr>
            <p:ph idx="1"/>
          </p:nvPr>
        </p:nvSpPr>
        <p:spPr>
          <a:xfrm>
            <a:off x="323528" y="1556792"/>
            <a:ext cx="8229600" cy="4525963"/>
          </a:xfrm>
        </p:spPr>
        <p:txBody>
          <a:bodyPr>
            <a:noAutofit/>
          </a:bodyPr>
          <a:lstStyle/>
          <a:p>
            <a:pPr marL="400050" lvl="1" indent="0" algn="just">
              <a:buNone/>
            </a:pPr>
            <a:r>
              <a:rPr lang="en-US" sz="2000" dirty="0"/>
              <a:t>Artificial intelligence is based essentially on the creation of systems  that behave  and  think  like human  beings, allowing natural communication between human beings and machines. Thanks to the evolution of man-machine communication, the use of natural communication  modalities to humans has been introduced. As a consequence, it becomes necessary to convert the  information  between  the  different  modalities.  Several researches have been made for different types of conversions. In contrast,  few researches have  contemplated and examined Image  to  Text  conversion  through  image  metadata  or prediction. So, the progression of human  communication  was another reason  for  the  emergence  of  new  applications  such  as  car navigation  aid, design aid for three-dimensional objects and especially those of learning aid whether for  the assistance  of the  deaf and dumb people,  foreign  languages  learners  the  students. </a:t>
            </a:r>
          </a:p>
        </p:txBody>
      </p:sp>
    </p:spTree>
    <p:extLst>
      <p:ext uri="{BB962C8B-B14F-4D97-AF65-F5344CB8AC3E}">
        <p14:creationId xmlns:p14="http://schemas.microsoft.com/office/powerpoint/2010/main" val="3601599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CAC0FC-6723-4014-AEEB-9A147D87113C}"/>
              </a:ext>
            </a:extLst>
          </p:cNvPr>
          <p:cNvSpPr>
            <a:spLocks noGrp="1"/>
          </p:cNvSpPr>
          <p:nvPr>
            <p:ph idx="1"/>
          </p:nvPr>
        </p:nvSpPr>
        <p:spPr>
          <a:xfrm>
            <a:off x="457200" y="381000"/>
            <a:ext cx="8229600" cy="5956300"/>
          </a:xfrm>
        </p:spPr>
        <p:txBody>
          <a:bodyPr>
            <a:normAutofit lnSpcReduction="10000"/>
          </a:bodyPr>
          <a:lstStyle/>
          <a:p>
            <a:pPr marL="0" indent="0" algn="just">
              <a:buNone/>
            </a:pPr>
            <a:r>
              <a:rPr lang="en-US" sz="2000" dirty="0"/>
              <a:t>According  to  several  studies,  one  of  the  causes  of  school failure  is the  student's  inability to  read  and express  himself orally and  in writing  and the  percentage of  school failure  is increasing. Also, other statistical studies have shown that 86% of  children  learn  quickly  letters  and  sentences  if  they  are accompanied  with  images. Learning  aid is  one of  the most important  fields  of  application  of  human  machine communication as it presents  a solution  for learners . The most common sign language is American sign language. The only means of communication for D&amp;M persons are sign languages since their single communication-related handicap prevents them from using spoken language. Our idea involves process of communicating which involves exchanging ideas and messages via a variety of means, including voice, signaling, behavior, and pictures that will be converted into text. People who are Deaf and Mute (Dumb) (D&amp;M) use their hands to make a variety of gestures to communicate with others. With this project out is type of communication that takes place through gestures is comprehended visually. Sign language is the nonverbal form of communication used by the deaf and the dumb. In this project I basically focus on producing a model which can recognize finger spelling based on hand gestures in order to form a complete work by combining each gesture.</a:t>
            </a:r>
          </a:p>
          <a:p>
            <a:pPr marL="0" indent="0" algn="just">
              <a:buNone/>
            </a:pPr>
            <a:endParaRPr lang="en-US" sz="2000" dirty="0"/>
          </a:p>
        </p:txBody>
      </p:sp>
    </p:spTree>
    <p:extLst>
      <p:ext uri="{BB962C8B-B14F-4D97-AF65-F5344CB8AC3E}">
        <p14:creationId xmlns:p14="http://schemas.microsoft.com/office/powerpoint/2010/main" val="1050879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2E5A0-BBE6-44F0-A43C-A0677D036531}"/>
              </a:ext>
            </a:extLst>
          </p:cNvPr>
          <p:cNvSpPr>
            <a:spLocks noGrp="1"/>
          </p:cNvSpPr>
          <p:nvPr>
            <p:ph type="title"/>
          </p:nvPr>
        </p:nvSpPr>
        <p:spPr/>
        <p:txBody>
          <a:bodyPr/>
          <a:lstStyle/>
          <a:p>
            <a:r>
              <a:rPr lang="en-US" dirty="0"/>
              <a:t>Problem Identified</a:t>
            </a:r>
          </a:p>
        </p:txBody>
      </p:sp>
      <p:sp>
        <p:nvSpPr>
          <p:cNvPr id="3" name="Content Placeholder 2">
            <a:extLst>
              <a:ext uri="{FF2B5EF4-FFF2-40B4-BE49-F238E27FC236}">
                <a16:creationId xmlns:a16="http://schemas.microsoft.com/office/drawing/2014/main" id="{67D56899-3B87-4F85-B16B-89F9B43F1AF0}"/>
              </a:ext>
            </a:extLst>
          </p:cNvPr>
          <p:cNvSpPr>
            <a:spLocks noGrp="1"/>
          </p:cNvSpPr>
          <p:nvPr>
            <p:ph idx="1"/>
          </p:nvPr>
        </p:nvSpPr>
        <p:spPr>
          <a:xfrm>
            <a:off x="457200" y="1600200"/>
            <a:ext cx="8229600" cy="4889500"/>
          </a:xfrm>
        </p:spPr>
        <p:txBody>
          <a:bodyPr>
            <a:normAutofit lnSpcReduction="10000"/>
          </a:bodyPr>
          <a:lstStyle/>
          <a:p>
            <a:pPr marL="0" indent="0">
              <a:buNone/>
            </a:pPr>
            <a:r>
              <a:rPr lang="en-US" sz="2400" dirty="0"/>
              <a:t>Image to Text Conversion: State of the Art and Extended Work</a:t>
            </a:r>
          </a:p>
          <a:p>
            <a:pPr marL="0" indent="0">
              <a:buNone/>
            </a:pPr>
            <a:r>
              <a:rPr lang="en-US" sz="1500" dirty="0">
                <a:hlinkClick r:id="rId2"/>
              </a:rPr>
              <a:t>https://www.researchgate.net/publication/323713259_Image_to_Text_Conversion_State_of_the_Art_and_Extended_Work</a:t>
            </a:r>
            <a:r>
              <a:rPr lang="en-US" sz="1500" dirty="0"/>
              <a:t> </a:t>
            </a:r>
            <a:endParaRPr lang="en-US" sz="2400" dirty="0"/>
          </a:p>
          <a:p>
            <a:pPr marL="0" indent="0">
              <a:buNone/>
            </a:pPr>
            <a:r>
              <a:rPr lang="en-US" sz="2400" dirty="0"/>
              <a:t> </a:t>
            </a:r>
          </a:p>
          <a:p>
            <a:pPr marL="0" indent="0">
              <a:buNone/>
            </a:pPr>
            <a:r>
              <a:rPr lang="en-US" sz="2400" dirty="0"/>
              <a:t>Unified learning approach for egocentric hand gesture recognition and fingertip detection -:</a:t>
            </a:r>
          </a:p>
          <a:p>
            <a:pPr marL="0" indent="0">
              <a:buNone/>
            </a:pPr>
            <a:r>
              <a:rPr lang="en-US" sz="1800" dirty="0"/>
              <a:t>A unified convolutional neural network (CNN) algorithm for both hand gesture recognition and fingertip detection at the same time. The proposed algorithm uses a single network to predict both finger class probabilities for classification and fingertips positional output for regression in one single evaluation. From the finger class probabilities, the gesture is recognized, and using both of the information fingertips are localized.  </a:t>
            </a:r>
          </a:p>
          <a:p>
            <a:pPr marL="0" indent="0">
              <a:buNone/>
            </a:pPr>
            <a:endParaRPr lang="en-US" sz="1800" dirty="0"/>
          </a:p>
          <a:p>
            <a:pPr marL="0" indent="0">
              <a:buNone/>
            </a:pPr>
            <a:r>
              <a:rPr lang="en-US" sz="1800" dirty="0">
                <a:hlinkClick r:id="rId3"/>
              </a:rPr>
              <a:t>https://www.sciencedirect.com/science/article/abs/pii/S0031320321003824</a:t>
            </a:r>
            <a:r>
              <a:rPr lang="en-US" sz="1800" dirty="0"/>
              <a:t> </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2816467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9D88-6DC3-4177-A0EA-9F6847923833}"/>
              </a:ext>
            </a:extLst>
          </p:cNvPr>
          <p:cNvSpPr>
            <a:spLocks noGrp="1"/>
          </p:cNvSpPr>
          <p:nvPr>
            <p:ph type="title"/>
          </p:nvPr>
        </p:nvSpPr>
        <p:spPr/>
        <p:txBody>
          <a:bodyPr/>
          <a:lstStyle/>
          <a:p>
            <a:r>
              <a:rPr lang="en-US" dirty="0"/>
              <a:t>Proposed Solution</a:t>
            </a:r>
          </a:p>
        </p:txBody>
      </p:sp>
      <p:sp>
        <p:nvSpPr>
          <p:cNvPr id="3" name="Content Placeholder 2">
            <a:extLst>
              <a:ext uri="{FF2B5EF4-FFF2-40B4-BE49-F238E27FC236}">
                <a16:creationId xmlns:a16="http://schemas.microsoft.com/office/drawing/2014/main" id="{2FBAFE3A-6CF5-4E67-AA67-61A44C9CA81B}"/>
              </a:ext>
            </a:extLst>
          </p:cNvPr>
          <p:cNvSpPr>
            <a:spLocks noGrp="1"/>
          </p:cNvSpPr>
          <p:nvPr>
            <p:ph idx="1"/>
          </p:nvPr>
        </p:nvSpPr>
        <p:spPr/>
        <p:txBody>
          <a:bodyPr>
            <a:normAutofit lnSpcReduction="10000"/>
          </a:bodyPr>
          <a:lstStyle/>
          <a:p>
            <a:pPr marL="0" indent="0" algn="just">
              <a:buNone/>
            </a:pPr>
            <a:r>
              <a:rPr lang="en-US" sz="1800" dirty="0"/>
              <a:t>Sign language is one of the oldest and most natural form of language for communication, but since most people do not know sign language and interpreters are very difficult to come by we have come up with a real time method using neural networks for fingerspelling based American sign language. The only means of communication for D&amp;M persons are sign languages since their single communication-related handicap prevents them from using spoken language. Our idea involves process of communicating which involves exchanging ideas and messages via a variety of means, including voice, signaling, behavior, and pictures that will be converted into text. People who are Deaf and Mute (Dumb) (D&amp;M) use their hands to make a variety of gestures to communicate with others. With this project out is type of communication that takes place through gestures is comprehended visually. Sign language is the nonverbal form of communication used by the deaf and the dumb. In this project we basically focus on producing a model which can recognize finger spelling based on hand gestures in order to form a complete work by combining each gesture.  </a:t>
            </a:r>
          </a:p>
        </p:txBody>
      </p:sp>
    </p:spTree>
    <p:extLst>
      <p:ext uri="{BB962C8B-B14F-4D97-AF65-F5344CB8AC3E}">
        <p14:creationId xmlns:p14="http://schemas.microsoft.com/office/powerpoint/2010/main" val="41826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1DC4A-9AF2-4E42-BD24-5D4A8DDC165C}"/>
              </a:ext>
            </a:extLst>
          </p:cNvPr>
          <p:cNvSpPr>
            <a:spLocks noGrp="1"/>
          </p:cNvSpPr>
          <p:nvPr>
            <p:ph type="title"/>
          </p:nvPr>
        </p:nvSpPr>
        <p:spPr/>
        <p:txBody>
          <a:bodyPr>
            <a:normAutofit/>
          </a:bodyPr>
          <a:lstStyle/>
          <a:p>
            <a:r>
              <a:rPr lang="en-US" sz="2800" dirty="0"/>
              <a:t>Contd.                    </a:t>
            </a:r>
          </a:p>
        </p:txBody>
      </p:sp>
      <p:sp>
        <p:nvSpPr>
          <p:cNvPr id="3" name="Content Placeholder 2">
            <a:extLst>
              <a:ext uri="{FF2B5EF4-FFF2-40B4-BE49-F238E27FC236}">
                <a16:creationId xmlns:a16="http://schemas.microsoft.com/office/drawing/2014/main" id="{A8563063-3B9E-41D8-9475-6ECF6E150F4E}"/>
              </a:ext>
            </a:extLst>
          </p:cNvPr>
          <p:cNvSpPr>
            <a:spLocks noGrp="1"/>
          </p:cNvSpPr>
          <p:nvPr>
            <p:ph idx="1"/>
          </p:nvPr>
        </p:nvSpPr>
        <p:spPr/>
        <p:txBody>
          <a:bodyPr>
            <a:normAutofit lnSpcReduction="10000"/>
          </a:bodyPr>
          <a:lstStyle/>
          <a:p>
            <a:pPr marL="0" indent="0">
              <a:buNone/>
            </a:pPr>
            <a:r>
              <a:rPr lang="en-US" sz="1800" dirty="0"/>
              <a:t>Sign language is a visual language and consists of 3 major components  -:</a:t>
            </a:r>
          </a:p>
          <a:p>
            <a:r>
              <a:rPr lang="en-US" sz="1800" dirty="0"/>
              <a:t>Fingerspelling  -:  Used to spell words letter by letter</a:t>
            </a:r>
          </a:p>
          <a:p>
            <a:r>
              <a:rPr lang="en-US" sz="1800" dirty="0"/>
              <a:t>Word level sign vocabulary  -: Used for the majority of communication.</a:t>
            </a:r>
          </a:p>
          <a:p>
            <a:r>
              <a:rPr lang="en-US" sz="1800" dirty="0"/>
              <a:t>Non manual features  -: Facial expression , tongue, mouth and body position.</a:t>
            </a:r>
          </a:p>
          <a:p>
            <a:pPr marL="0" indent="0">
              <a:buNone/>
            </a:pPr>
            <a:endParaRPr lang="en-US" sz="1800" dirty="0"/>
          </a:p>
          <a:p>
            <a:pPr marL="0" indent="0">
              <a:buNone/>
            </a:pPr>
            <a:r>
              <a:rPr lang="en-US" sz="1800" dirty="0"/>
              <a:t>In this project we basically focus on producing a model which can recognize Fingerspelling based hand gestures in order to form a complete word by combining each gesture.</a:t>
            </a:r>
          </a:p>
          <a:p>
            <a:pPr marL="0" indent="0">
              <a:buNone/>
            </a:pPr>
            <a:endParaRPr lang="en-US" sz="1800" dirty="0"/>
          </a:p>
          <a:p>
            <a:pPr marL="0" indent="0">
              <a:buNone/>
            </a:pPr>
            <a:r>
              <a:rPr lang="en-US" sz="1800" dirty="0"/>
              <a:t>The gestures I trained are as given in the image below.</a:t>
            </a:r>
          </a:p>
        </p:txBody>
      </p:sp>
    </p:spTree>
    <p:extLst>
      <p:ext uri="{BB962C8B-B14F-4D97-AF65-F5344CB8AC3E}">
        <p14:creationId xmlns:p14="http://schemas.microsoft.com/office/powerpoint/2010/main" val="2515702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795736-1525-4BEF-800A-C6D73D0E63E8}"/>
              </a:ext>
            </a:extLst>
          </p:cNvPr>
          <p:cNvSpPr>
            <a:spLocks noGrp="1"/>
          </p:cNvSpPr>
          <p:nvPr>
            <p:ph idx="1"/>
          </p:nvPr>
        </p:nvSpPr>
        <p:spPr>
          <a:xfrm>
            <a:off x="457200" y="292100"/>
            <a:ext cx="8229600" cy="6184900"/>
          </a:xfrm>
        </p:spPr>
        <p:txBody>
          <a:bodyPr/>
          <a:lstStyle/>
          <a:p>
            <a:pPr marL="0" indent="0">
              <a:buNone/>
            </a:pPr>
            <a:r>
              <a:rPr lang="en-US" dirty="0"/>
              <a:t>   </a:t>
            </a:r>
          </a:p>
        </p:txBody>
      </p:sp>
      <p:pic>
        <p:nvPicPr>
          <p:cNvPr id="4" name="Picture 3">
            <a:extLst>
              <a:ext uri="{FF2B5EF4-FFF2-40B4-BE49-F238E27FC236}">
                <a16:creationId xmlns:a16="http://schemas.microsoft.com/office/drawing/2014/main" id="{3060AF2B-35E2-496E-8177-0BB83BCB3342}"/>
              </a:ext>
            </a:extLst>
          </p:cNvPr>
          <p:cNvPicPr>
            <a:picLocks noChangeAspect="1"/>
          </p:cNvPicPr>
          <p:nvPr/>
        </p:nvPicPr>
        <p:blipFill>
          <a:blip r:embed="rId2"/>
          <a:stretch>
            <a:fillRect/>
          </a:stretch>
        </p:blipFill>
        <p:spPr>
          <a:xfrm>
            <a:off x="1143000" y="1379747"/>
            <a:ext cx="6858000" cy="3806406"/>
          </a:xfrm>
          <a:prstGeom prst="rect">
            <a:avLst/>
          </a:prstGeom>
        </p:spPr>
      </p:pic>
      <p:pic>
        <p:nvPicPr>
          <p:cNvPr id="5" name="Picture 4">
            <a:extLst>
              <a:ext uri="{FF2B5EF4-FFF2-40B4-BE49-F238E27FC236}">
                <a16:creationId xmlns:a16="http://schemas.microsoft.com/office/drawing/2014/main" id="{72FB771D-A4E7-426C-BCA3-4805E7507E2B}"/>
              </a:ext>
            </a:extLst>
          </p:cNvPr>
          <p:cNvPicPr>
            <a:picLocks noChangeAspect="1"/>
          </p:cNvPicPr>
          <p:nvPr/>
        </p:nvPicPr>
        <p:blipFill>
          <a:blip r:embed="rId2"/>
          <a:stretch>
            <a:fillRect/>
          </a:stretch>
        </p:blipFill>
        <p:spPr>
          <a:xfrm>
            <a:off x="457200" y="622300"/>
            <a:ext cx="8039100" cy="5334000"/>
          </a:xfrm>
          <a:prstGeom prst="rect">
            <a:avLst/>
          </a:prstGeom>
        </p:spPr>
      </p:pic>
    </p:spTree>
    <p:extLst>
      <p:ext uri="{BB962C8B-B14F-4D97-AF65-F5344CB8AC3E}">
        <p14:creationId xmlns:p14="http://schemas.microsoft.com/office/powerpoint/2010/main" val="220946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622AA-105A-4821-9F4C-7AA66991CF45}"/>
              </a:ext>
            </a:extLst>
          </p:cNvPr>
          <p:cNvSpPr>
            <a:spLocks noGrp="1"/>
          </p:cNvSpPr>
          <p:nvPr>
            <p:ph type="title"/>
          </p:nvPr>
        </p:nvSpPr>
        <p:spPr/>
        <p:txBody>
          <a:bodyPr>
            <a:normAutofit/>
          </a:bodyPr>
          <a:lstStyle/>
          <a:p>
            <a:r>
              <a:rPr lang="en-IN" dirty="0"/>
              <a:t>Technologies / Software / Hardware</a:t>
            </a:r>
            <a:endParaRPr lang="en-US" dirty="0"/>
          </a:p>
        </p:txBody>
      </p:sp>
      <p:sp>
        <p:nvSpPr>
          <p:cNvPr id="3" name="Content Placeholder 2">
            <a:extLst>
              <a:ext uri="{FF2B5EF4-FFF2-40B4-BE49-F238E27FC236}">
                <a16:creationId xmlns:a16="http://schemas.microsoft.com/office/drawing/2014/main" id="{CF67B407-CFCB-455E-9D05-97CF80BAE207}"/>
              </a:ext>
            </a:extLst>
          </p:cNvPr>
          <p:cNvSpPr>
            <a:spLocks noGrp="1"/>
          </p:cNvSpPr>
          <p:nvPr>
            <p:ph idx="1"/>
          </p:nvPr>
        </p:nvSpPr>
        <p:spPr>
          <a:xfrm>
            <a:off x="685800" y="1892300"/>
            <a:ext cx="7772400" cy="5232400"/>
          </a:xfrm>
        </p:spPr>
        <p:txBody>
          <a:bodyPr>
            <a:normAutofit/>
          </a:bodyPr>
          <a:lstStyle/>
          <a:p>
            <a:r>
              <a:rPr lang="en-US" sz="1800" dirty="0"/>
              <a:t>To complete this project, we needed the following: </a:t>
            </a:r>
          </a:p>
          <a:p>
            <a:pPr marL="0" indent="0">
              <a:buNone/>
            </a:pPr>
            <a:r>
              <a:rPr lang="en-US" sz="1800" dirty="0"/>
              <a:t>          A local development environment for Python 3  with</a:t>
            </a:r>
          </a:p>
          <a:p>
            <a:r>
              <a:rPr lang="en-US" sz="1800" dirty="0"/>
              <a:t>Modern Operating System:</a:t>
            </a:r>
          </a:p>
          <a:p>
            <a:r>
              <a:rPr lang="en-US" sz="1800" dirty="0"/>
              <a:t>Windows 7 or 10</a:t>
            </a:r>
          </a:p>
          <a:p>
            <a:r>
              <a:rPr lang="en-US" sz="1800" dirty="0"/>
              <a:t>Mac OS X 10.11 or higher, 64-bit</a:t>
            </a:r>
          </a:p>
          <a:p>
            <a:r>
              <a:rPr lang="en-US" sz="1800" dirty="0"/>
              <a:t>Linux: RHEL 6/7, 64-bit (almost all libraries also work in Ubuntu)</a:t>
            </a:r>
          </a:p>
          <a:p>
            <a:r>
              <a:rPr lang="en-US" sz="1800" dirty="0"/>
              <a:t>x86 64-bit CPU (Intel / AMD architecture)</a:t>
            </a:r>
          </a:p>
          <a:p>
            <a:r>
              <a:rPr lang="en-US" sz="1800" dirty="0"/>
              <a:t>4 GB RAM</a:t>
            </a:r>
          </a:p>
          <a:p>
            <a:r>
              <a:rPr lang="en-US" sz="1800" dirty="0"/>
              <a:t>5 GB free disk space </a:t>
            </a:r>
          </a:p>
          <a:p>
            <a:r>
              <a:rPr lang="en-US" sz="1800" dirty="0"/>
              <a:t>A working webcam to do real-time image detection.</a:t>
            </a:r>
          </a:p>
          <a:p>
            <a:r>
              <a:rPr lang="en-US" sz="1800" dirty="0"/>
              <a:t>We will build a sign language classifier using a neural network. Our goal is to produce a model that accepts a picture of a hand as input and outputs a letter.</a:t>
            </a:r>
          </a:p>
          <a:p>
            <a:endParaRPr lang="en-US" sz="1800" dirty="0"/>
          </a:p>
        </p:txBody>
      </p:sp>
    </p:spTree>
    <p:extLst>
      <p:ext uri="{BB962C8B-B14F-4D97-AF65-F5344CB8AC3E}">
        <p14:creationId xmlns:p14="http://schemas.microsoft.com/office/powerpoint/2010/main" val="380904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9DB6F-F088-4BB4-8575-4F10F8190EDA}"/>
              </a:ext>
            </a:extLst>
          </p:cNvPr>
          <p:cNvSpPr>
            <a:spLocks noGrp="1"/>
          </p:cNvSpPr>
          <p:nvPr>
            <p:ph type="title"/>
          </p:nvPr>
        </p:nvSpPr>
        <p:spPr/>
        <p:txBody>
          <a:bodyPr/>
          <a:lstStyle/>
          <a:p>
            <a:r>
              <a:rPr lang="en-IN" dirty="0"/>
              <a:t>Why – As HCI J Comp. Project</a:t>
            </a:r>
            <a:endParaRPr lang="en-US" dirty="0"/>
          </a:p>
        </p:txBody>
      </p:sp>
      <p:sp>
        <p:nvSpPr>
          <p:cNvPr id="3" name="Content Placeholder 2">
            <a:extLst>
              <a:ext uri="{FF2B5EF4-FFF2-40B4-BE49-F238E27FC236}">
                <a16:creationId xmlns:a16="http://schemas.microsoft.com/office/drawing/2014/main" id="{33A30DC4-AECD-4EF5-800D-388AD15514D0}"/>
              </a:ext>
            </a:extLst>
          </p:cNvPr>
          <p:cNvSpPr>
            <a:spLocks noGrp="1"/>
          </p:cNvSpPr>
          <p:nvPr>
            <p:ph idx="1"/>
          </p:nvPr>
        </p:nvSpPr>
        <p:spPr/>
        <p:txBody>
          <a:bodyPr>
            <a:normAutofit lnSpcReduction="10000"/>
          </a:bodyPr>
          <a:lstStyle/>
          <a:p>
            <a:pPr marL="0" indent="0">
              <a:buNone/>
            </a:pPr>
            <a:r>
              <a:rPr lang="en-US" sz="2000" dirty="0"/>
              <a:t>We choose this project as it is an perfect example of Human Computer Interaction. User here who is dumb and deaf gives sign and system convert it into text. Here, As we all know Hci goal is to develop and design a computer technology which could help us to make the interaction between Human(in our case, deaf people) and the system(Computer) efficient and a lot comfortable.</a:t>
            </a:r>
          </a:p>
          <a:p>
            <a:pPr marL="0" indent="0">
              <a:buNone/>
            </a:pPr>
            <a:r>
              <a:rPr lang="en-US" sz="2000" dirty="0"/>
              <a:t>So by introducing this braille for deaf people , we are making them (Computer and user) interact with the help of using a Sign language ( A type of Language) to make interaction readable and likeable. Since Hci is able to understand the human needs to the fullest we are trying to design this braille in order to understand the behavior, interest and various other stuff so that the interface that is designed is free of flaws and a smooth interconnection is maintained between the user and the system.</a:t>
            </a:r>
          </a:p>
        </p:txBody>
      </p:sp>
    </p:spTree>
    <p:extLst>
      <p:ext uri="{BB962C8B-B14F-4D97-AF65-F5344CB8AC3E}">
        <p14:creationId xmlns:p14="http://schemas.microsoft.com/office/powerpoint/2010/main" val="1954146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3563D-72A5-42F6-AD53-6CE3024175A7}"/>
              </a:ext>
            </a:extLst>
          </p:cNvPr>
          <p:cNvSpPr>
            <a:spLocks noGrp="1"/>
          </p:cNvSpPr>
          <p:nvPr>
            <p:ph type="title"/>
          </p:nvPr>
        </p:nvSpPr>
        <p:spPr>
          <a:xfrm>
            <a:off x="457200" y="1257300"/>
            <a:ext cx="8229600" cy="160338"/>
          </a:xfrm>
        </p:spPr>
        <p:txBody>
          <a:bodyPr>
            <a:normAutofit fontScale="90000"/>
          </a:bodyPr>
          <a:lstStyle/>
          <a:p>
            <a:r>
              <a:rPr lang="en-IN" dirty="0"/>
              <a:t>Expected Contributions / Student wise</a:t>
            </a:r>
            <a:br>
              <a:rPr lang="en-IN" dirty="0"/>
            </a:br>
            <a:br>
              <a:rPr lang="en-IN" dirty="0"/>
            </a:br>
            <a:endParaRPr lang="en-US" dirty="0"/>
          </a:p>
        </p:txBody>
      </p:sp>
      <p:sp>
        <p:nvSpPr>
          <p:cNvPr id="3" name="Content Placeholder 2">
            <a:extLst>
              <a:ext uri="{FF2B5EF4-FFF2-40B4-BE49-F238E27FC236}">
                <a16:creationId xmlns:a16="http://schemas.microsoft.com/office/drawing/2014/main" id="{D4005B98-2994-41EE-A584-F5363DB7C313}"/>
              </a:ext>
            </a:extLst>
          </p:cNvPr>
          <p:cNvSpPr>
            <a:spLocks noGrp="1"/>
          </p:cNvSpPr>
          <p:nvPr>
            <p:ph idx="1"/>
          </p:nvPr>
        </p:nvSpPr>
        <p:spPr>
          <a:xfrm>
            <a:off x="355600" y="1727200"/>
            <a:ext cx="8636000" cy="4445000"/>
          </a:xfrm>
        </p:spPr>
        <p:txBody>
          <a:bodyPr>
            <a:normAutofit/>
          </a:bodyPr>
          <a:lstStyle/>
          <a:p>
            <a:pPr marL="0" indent="0">
              <a:buNone/>
            </a:pPr>
            <a:r>
              <a:rPr lang="en-US" sz="2000" dirty="0"/>
              <a:t>Aman Kr Mishra -  Preparing the Sign Language Classifications Dataset</a:t>
            </a:r>
          </a:p>
          <a:p>
            <a:pPr marL="0" indent="0">
              <a:buNone/>
            </a:pPr>
            <a:r>
              <a:rPr lang="en-US" sz="2000" dirty="0"/>
              <a:t>                                  Building and Training the Sign Language Classifier </a:t>
            </a:r>
          </a:p>
          <a:p>
            <a:pPr marL="0" indent="0">
              <a:buNone/>
            </a:pPr>
            <a:r>
              <a:rPr lang="en-US" sz="2000" dirty="0"/>
              <a:t>                                  Data preprocessing </a:t>
            </a:r>
          </a:p>
          <a:p>
            <a:pPr marL="0" indent="0">
              <a:buNone/>
            </a:pPr>
            <a:endParaRPr lang="en-US" sz="2000" dirty="0"/>
          </a:p>
          <a:p>
            <a:pPr marL="0" indent="0">
              <a:buNone/>
            </a:pPr>
            <a:r>
              <a:rPr lang="en-US" sz="2000" dirty="0" err="1"/>
              <a:t>Ansh</a:t>
            </a:r>
            <a:r>
              <a:rPr lang="en-US" sz="2000" dirty="0"/>
              <a:t> </a:t>
            </a:r>
            <a:r>
              <a:rPr lang="en-US" sz="2000" dirty="0" err="1"/>
              <a:t>Goel</a:t>
            </a:r>
            <a:r>
              <a:rPr lang="en-US" sz="2000" dirty="0"/>
              <a:t> -             Saving Models and Weights</a:t>
            </a:r>
          </a:p>
          <a:p>
            <a:pPr marL="0" indent="0">
              <a:buNone/>
            </a:pPr>
            <a:r>
              <a:rPr lang="en-US" sz="2000" dirty="0"/>
              <a:t>                                  Define </a:t>
            </a:r>
            <a:r>
              <a:rPr lang="en-US" sz="2000" dirty="0" err="1"/>
              <a:t>Keras</a:t>
            </a:r>
            <a:r>
              <a:rPr lang="en-US" sz="2000" dirty="0"/>
              <a:t> neural network that includes the </a:t>
            </a:r>
            <a:r>
              <a:rPr lang="en-US" dirty="0"/>
              <a:t>layers</a:t>
            </a:r>
            <a:r>
              <a:rPr lang="en-US" sz="2000" dirty="0"/>
              <a:t>                                   </a:t>
            </a:r>
          </a:p>
          <a:p>
            <a:pPr marL="0" indent="0">
              <a:buNone/>
            </a:pPr>
            <a:r>
              <a:rPr lang="en-US" sz="2000" dirty="0"/>
              <a:t>                                  Testing</a:t>
            </a:r>
          </a:p>
        </p:txBody>
      </p:sp>
    </p:spTree>
    <p:extLst>
      <p:ext uri="{BB962C8B-B14F-4D97-AF65-F5344CB8AC3E}">
        <p14:creationId xmlns:p14="http://schemas.microsoft.com/office/powerpoint/2010/main" val="35340609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6b060c6-2f63-44ce-ac6d-762dd9a5d615" xsi:nil="true"/>
    <lcf76f155ced4ddcb4097134ff3c332f xmlns="90492725-765d-41cc-9a60-72654dfb525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A5FBE3911D57744ABD5543BF8CC7ABD" ma:contentTypeVersion="8" ma:contentTypeDescription="Create a new document." ma:contentTypeScope="" ma:versionID="1ede378dc2fb4d01fd68ce75b987612b">
  <xsd:schema xmlns:xsd="http://www.w3.org/2001/XMLSchema" xmlns:xs="http://www.w3.org/2001/XMLSchema" xmlns:p="http://schemas.microsoft.com/office/2006/metadata/properties" xmlns:ns2="90492725-765d-41cc-9a60-72654dfb5257" xmlns:ns3="d6b060c6-2f63-44ce-ac6d-762dd9a5d615" targetNamespace="http://schemas.microsoft.com/office/2006/metadata/properties" ma:root="true" ma:fieldsID="5f1a75b1788530f70ed08d26da609403" ns2:_="" ns3:_="">
    <xsd:import namespace="90492725-765d-41cc-9a60-72654dfb5257"/>
    <xsd:import namespace="d6b060c6-2f63-44ce-ac6d-762dd9a5d615"/>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492725-765d-41cc-9a60-72654dfb52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34f2db7-5c9e-4885-aa5f-8b428826e263"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b060c6-2f63-44ce-ac6d-762dd9a5d61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e7a6a28f-52ab-44b0-9cb8-ae8c98ca6acc}" ma:internalName="TaxCatchAll" ma:showField="CatchAllData" ma:web="d6b060c6-2f63-44ce-ac6d-762dd9a5d61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2709D0-B7DB-457D-8EF5-9EB8B93CC12F}">
  <ds:schemaRefs>
    <ds:schemaRef ds:uri="http://schemas.microsoft.com/office/2006/metadata/properties"/>
    <ds:schemaRef ds:uri="http://www.w3.org/2000/xmlns/"/>
    <ds:schemaRef ds:uri="d6b060c6-2f63-44ce-ac6d-762dd9a5d615"/>
    <ds:schemaRef ds:uri="http://www.w3.org/2001/XMLSchema-instance"/>
    <ds:schemaRef ds:uri="90492725-765d-41cc-9a60-72654dfb5257"/>
    <ds:schemaRef ds:uri="http://schemas.microsoft.com/office/infopath/2007/PartnerControls"/>
  </ds:schemaRefs>
</ds:datastoreItem>
</file>

<file path=customXml/itemProps2.xml><?xml version="1.0" encoding="utf-8"?>
<ds:datastoreItem xmlns:ds="http://schemas.openxmlformats.org/officeDocument/2006/customXml" ds:itemID="{CDF0906B-A236-45B5-8CC9-D6269AB8F3C3}">
  <ds:schemaRefs>
    <ds:schemaRef ds:uri="http://schemas.microsoft.com/sharepoint/v3/contenttype/forms"/>
  </ds:schemaRefs>
</ds:datastoreItem>
</file>

<file path=customXml/itemProps3.xml><?xml version="1.0" encoding="utf-8"?>
<ds:datastoreItem xmlns:ds="http://schemas.openxmlformats.org/officeDocument/2006/customXml" ds:itemID="{CA39540E-8CFA-4D9E-9689-EB74BA66EFB6}">
  <ds:schemaRefs>
    <ds:schemaRef ds:uri="http://schemas.microsoft.com/office/2006/metadata/contentType"/>
    <ds:schemaRef ds:uri="http://schemas.microsoft.com/office/2006/metadata/properties/metaAttributes"/>
    <ds:schemaRef ds:uri="http://www.w3.org/2000/xmlns/"/>
    <ds:schemaRef ds:uri="http://www.w3.org/2001/XMLSchema"/>
    <ds:schemaRef ds:uri="90492725-765d-41cc-9a60-72654dfb5257"/>
    <ds:schemaRef ds:uri="d6b060c6-2f63-44ce-ac6d-762dd9a5d615"/>
  </ds:schemaRefs>
</ds:datastoreItem>
</file>

<file path=docProps/app.xml><?xml version="1.0" encoding="utf-8"?>
<Properties xmlns="http://schemas.openxmlformats.org/officeDocument/2006/extended-properties" xmlns:vt="http://schemas.openxmlformats.org/officeDocument/2006/docPropsVTypes">
  <TotalTime>29</TotalTime>
  <Words>1181</Words>
  <Application>Microsoft Office PowerPoint</Application>
  <PresentationFormat>On-screen Show (4:3)</PresentationFormat>
  <Paragraphs>53</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Wood Type</vt:lpstr>
      <vt:lpstr>Braille for Deaf</vt:lpstr>
      <vt:lpstr>Abstract</vt:lpstr>
      <vt:lpstr>PowerPoint Presentation</vt:lpstr>
      <vt:lpstr>Problem Identified</vt:lpstr>
      <vt:lpstr>Proposed Solution</vt:lpstr>
      <vt:lpstr>Contd.                    </vt:lpstr>
      <vt:lpstr>PowerPoint Presentation</vt:lpstr>
      <vt:lpstr>Technologies / Software / Hardware</vt:lpstr>
      <vt:lpstr>Why – As HCI J Comp. Project</vt:lpstr>
      <vt:lpstr>Expected Contributions / Student wise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dc:creator>
  <cp:lastModifiedBy>AMAN KR MISHRA</cp:lastModifiedBy>
  <cp:revision>6</cp:revision>
  <dcterms:created xsi:type="dcterms:W3CDTF">2022-08-02T02:31:52Z</dcterms:created>
  <dcterms:modified xsi:type="dcterms:W3CDTF">2022-08-17T19:03:37Z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0x0101001A5FBE3911D57744ABD5543BF8CC7ABD</vt:lpwstr>
  </property>
</Properties>
</file>